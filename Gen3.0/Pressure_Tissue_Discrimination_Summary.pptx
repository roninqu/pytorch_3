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1FA3F-BEDE-4E99-92F6-9F4544910ABC}" v="1" dt="2026-06-03T22:50:55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ld Kurnik" userId="6f79f11b-f5ab-4466-904a-02b8f93ce18f" providerId="ADAL" clId="{4B07D391-C5C5-4FB9-9B28-2A1BA676D995}"/>
    <pc:docChg chg="modSld">
      <pc:chgData name="Ronald Kurnik" userId="6f79f11b-f5ab-4466-904a-02b8f93ce18f" providerId="ADAL" clId="{4B07D391-C5C5-4FB9-9B28-2A1BA676D995}" dt="2026-06-03T22:51:20.484" v="40" actId="20577"/>
      <pc:docMkLst>
        <pc:docMk/>
      </pc:docMkLst>
      <pc:sldChg chg="modSp mod">
        <pc:chgData name="Ronald Kurnik" userId="6f79f11b-f5ab-4466-904a-02b8f93ce18f" providerId="ADAL" clId="{4B07D391-C5C5-4FB9-9B28-2A1BA676D995}" dt="2026-06-03T22:51:20.484" v="40" actId="20577"/>
        <pc:sldMkLst>
          <pc:docMk/>
          <pc:sldMk cId="0" sldId="256"/>
        </pc:sldMkLst>
        <pc:spChg chg="mod">
          <ac:chgData name="Ronald Kurnik" userId="6f79f11b-f5ab-4466-904a-02b8f93ce18f" providerId="ADAL" clId="{4B07D391-C5C5-4FB9-9B28-2A1BA676D995}" dt="2026-06-03T22:51:20.484" v="4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Ronald Kurnik" userId="6f79f11b-f5ab-4466-904a-02b8f93ce18f" providerId="ADAL" clId="{4B07D391-C5C5-4FB9-9B28-2A1BA676D995}" dt="2026-06-03T22:46:45.978" v="25" actId="20577"/>
        <pc:sldMkLst>
          <pc:docMk/>
          <pc:sldMk cId="0" sldId="258"/>
        </pc:sldMkLst>
        <pc:graphicFrameChg chg="modGraphic">
          <ac:chgData name="Ronald Kurnik" userId="6f79f11b-f5ab-4466-904a-02b8f93ce18f" providerId="ADAL" clId="{4B07D391-C5C5-4FB9-9B28-2A1BA676D995}" dt="2026-06-03T22:46:45.978" v="25" actId="20577"/>
          <ac:graphicFrameMkLst>
            <pc:docMk/>
            <pc:sldMk cId="0" sldId="258"/>
            <ac:graphicFrameMk id="3" creationId="{00000000-0000-0000-0000-000000000000}"/>
          </ac:graphicFrameMkLst>
        </pc:graphicFrameChg>
      </pc:sldChg>
      <pc:sldChg chg="modSp mod">
        <pc:chgData name="Ronald Kurnik" userId="6f79f11b-f5ab-4466-904a-02b8f93ce18f" providerId="ADAL" clId="{4B07D391-C5C5-4FB9-9B28-2A1BA676D995}" dt="2026-06-03T22:47:58.700" v="30" actId="20577"/>
        <pc:sldMkLst>
          <pc:docMk/>
          <pc:sldMk cId="0" sldId="259"/>
        </pc:sldMkLst>
        <pc:graphicFrameChg chg="modGraphic">
          <ac:chgData name="Ronald Kurnik" userId="6f79f11b-f5ab-4466-904a-02b8f93ce18f" providerId="ADAL" clId="{4B07D391-C5C5-4FB9-9B28-2A1BA676D995}" dt="2026-06-03T22:47:58.700" v="30" actId="20577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  <pc:sldChg chg="modSp mod">
        <pc:chgData name="Ronald Kurnik" userId="6f79f11b-f5ab-4466-904a-02b8f93ce18f" providerId="ADAL" clId="{4B07D391-C5C5-4FB9-9B28-2A1BA676D995}" dt="2026-06-03T22:51:00.923" v="36" actId="20577"/>
        <pc:sldMkLst>
          <pc:docMk/>
          <pc:sldMk cId="0" sldId="261"/>
        </pc:sldMkLst>
        <pc:spChg chg="mod">
          <ac:chgData name="Ronald Kurnik" userId="6f79f11b-f5ab-4466-904a-02b8f93ce18f" providerId="ADAL" clId="{4B07D391-C5C5-4FB9-9B28-2A1BA676D995}" dt="2026-06-03T22:51:00.923" v="36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Pressure-Based Tissue Discrimination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D6E8F7"/>
                </a:solidFill>
              </a:rPr>
              <a:t>First-in-Human Clinical Data Analysis
3 Patients  |  </a:t>
            </a:r>
            <a:r>
              <a:rPr lang="en-US" sz="2000" dirty="0">
                <a:solidFill>
                  <a:srgbClr val="D6E8F7"/>
                </a:solidFill>
              </a:rPr>
              <a:t>June</a:t>
            </a:r>
            <a:r>
              <a:rPr sz="2000" dirty="0">
                <a:solidFill>
                  <a:srgbClr val="D6E8F7"/>
                </a:solidFill>
              </a:rPr>
              <a:t> 2026  |  Gen3.0 Handle Pressure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AACC"/>
                </a:solidFill>
              </a:rPr>
              <a:t>Inquis Medical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Key Finding: Pressure Separates Wall from Clot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D8B4E"/>
                </a:solidFill>
              </a:rPr>
              <a:t>Wall contact produces sustained low pressure (median 131 mmHg)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</a:rPr>
              <a:t>Clot aspiration maintains high pressure (median 613 mmHg)</a:t>
            </a:r>
          </a:p>
          <a:p>
            <a:pPr>
              <a:spcAft>
                <a:spcPts val="600"/>
              </a:spcAft>
            </a:pPr>
            <a:endParaRPr sz="1600" b="1">
              <a:solidFill>
                <a:srgbClr val="C0392B"/>
              </a:solidFill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At P &lt; 300 mmHg threshold (pressure-only rule):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5E8E"/>
                </a:solidFill>
              </a:rPr>
              <a:t>    Wall Recall = 84.5%    |    Wall Precision = 67.4%    |    Wall F1 = 75.0%</a:t>
            </a:r>
          </a:p>
          <a:p>
            <a:pPr>
              <a:spcAft>
                <a:spcPts val="600"/>
              </a:spcAft>
            </a:pPr>
            <a:endParaRPr sz="1600" b="0">
              <a:solidFill>
                <a:srgbClr val="2E5E8E"/>
              </a:solidFill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</a:rPr>
              <a:t>Separation is strongest in Centennial cases (short procedures):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</a:rPr>
              <a:t>    Centennial: 0% of clot time below 500 mmHg vs 81-88% of wall time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</a:rPr>
              <a:t>    Promedica: 60% of clot time below 500 mmHg (prolonged aspiration)</a:t>
            </a:r>
          </a:p>
          <a:p>
            <a:pPr>
              <a:spcAft>
                <a:spcPts val="600"/>
              </a:spcAft>
            </a:pPr>
            <a:endParaRPr sz="1600" b="0">
              <a:solidFill>
                <a:srgbClr val="E67E22"/>
              </a:solidFill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Conclusion: Pressure is a strong complementary signal to impedance.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</a:rPr>
              <a:t>Combined with impedance, pressure resolves the clot/wall ambiguity.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Per-Patient Pressure Characteristics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450978"/>
              </p:ext>
            </p:extLst>
          </p:nvPr>
        </p:nvGraphicFramePr>
        <p:xfrm>
          <a:off x="457200" y="1097280"/>
          <a:ext cx="9966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Patient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Duration
(min)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Events
(C / W)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Clot Median
(mmHg)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Wall Median
(mmHg)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Clot
&lt; 500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Wall
&lt; 500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Clot
&lt; 200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Wall
&lt; 200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Promedica 206-104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22 / 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327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Centennial 220-054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 /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Centennial 220-055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 / 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POOLED (all 3)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275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48 / 32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613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46%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90%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32%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74%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85858"/>
                </a:solidFill>
              </a:rPr>
              <a:t>Signal: han_pressure_mmhg (handle pressure sensor)
Ground truth: light_style_i (impedance state machine labels)
Events = contiguous labeled segments &gt; 0.5s   |   C = clot, W = wall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Threshold Performance (pooled: 87,433 clot + 71,864 wall samples)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928606"/>
              </p:ext>
            </p:extLst>
          </p:nvPr>
        </p:nvGraphicFramePr>
        <p:xfrm>
          <a:off x="1371600" y="1097280"/>
          <a:ext cx="7955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Threshold
(P &lt; X -&gt; Wall)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Wall
Recall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Wall
Precision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Wall
F1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Clot FP
Rate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P &lt; 200 mmHg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73.7%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65.5%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69.4%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32.0%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P &lt; 300 mmHg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84.5%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67.4%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33.6%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BEST F1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P &lt; 400 mmHg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89.5%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62.3%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73.4%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44.5%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P &lt; 500 mmHg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73.1%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E8E"/>
                </a:solidFill>
              </a:rPr>
              <a:t>Rule: If handle pressure &lt; threshold, predict WALL</a:t>
            </a:r>
          </a:p>
          <a:p>
            <a:endParaRPr sz="1400" b="1">
              <a:solidFill>
                <a:srgbClr val="2E5E8E"/>
              </a:solidFill>
            </a:endParaRPr>
          </a:p>
          <a:p>
            <a:r>
              <a:rPr sz="1400">
                <a:solidFill>
                  <a:srgbClr val="585858"/>
                </a:solidFill>
              </a:rPr>
              <a:t>P &lt; 300 mmHg gives the best balance (F1 = 75.0%)</a:t>
            </a:r>
          </a:p>
          <a:p>
            <a:r>
              <a:rPr sz="1400">
                <a:solidFill>
                  <a:srgbClr val="585858"/>
                </a:solidFill>
              </a:rPr>
              <a:t>High recall (84.5%) means we catch most wall events</a:t>
            </a:r>
          </a:p>
          <a:p>
            <a:r>
              <a:rPr sz="1400">
                <a:solidFill>
                  <a:srgbClr val="585858"/>
                </a:solidFill>
              </a:rPr>
              <a:t>Precision limited to 67% because prolonged clot aspiration also drops pressure</a:t>
            </a:r>
          </a:p>
          <a:p>
            <a:endParaRPr sz="1400">
              <a:solidFill>
                <a:srgbClr val="585858"/>
              </a:solidFill>
            </a:endParaRPr>
          </a:p>
          <a:p>
            <a:r>
              <a:rPr sz="1400">
                <a:solidFill>
                  <a:srgbClr val="585858"/>
                </a:solidFill>
              </a:rPr>
              <a:t>This overlap is resolved by impedance (clot Z &gt;&gt; wall Z), which the GRU model already 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Estimated ML Performance Improvement with Pressure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8595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Blood F1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Clot F1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Wall F1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F1-macro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Net Benefit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Current (impedance only)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+75,420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+ Pressure (conservative)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0.55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0.90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0.73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+95,000 (est.)</a:t>
                      </a:r>
                    </a:p>
                  </a:txBody>
                  <a:tcPr anchor="ctr"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+ Pressure (full GRU)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 anchor="ctr">
                    <a:solidFill>
                      <a:srgbClr val="A8DF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0.65</a:t>
                      </a:r>
                    </a:p>
                  </a:txBody>
                  <a:tcPr anchor="ctr">
                    <a:solidFill>
                      <a:srgbClr val="A8DF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0.93</a:t>
                      </a:r>
                    </a:p>
                  </a:txBody>
                  <a:tcPr anchor="ctr">
                    <a:solidFill>
                      <a:srgbClr val="A8DF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0.80</a:t>
                      </a:r>
                    </a:p>
                  </a:txBody>
                  <a:tcPr anchor="ctr">
                    <a:solidFill>
                      <a:srgbClr val="A8DF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+110,000 (est.)</a:t>
                      </a:r>
                    </a:p>
                  </a:txBody>
                  <a:tcPr anchor="ctr">
                    <a:solidFill>
                      <a:srgbClr val="A8D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E5E8E"/>
                </a:solidFill>
              </a:rPr>
              <a:t>Basis for Estimates: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5858"/>
                </a:solidFill>
              </a:rPr>
              <a:t>  - Wall: 74% of wall time has P &lt; 200 mmHg -&gt; near-certain wall identification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5858"/>
                </a:solidFill>
              </a:rPr>
              <a:t>  - Clot: 54% of clot time has P &gt; 500 mmHg -&gt; confirmed not-wall by pressure alone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5858"/>
                </a:solidFill>
              </a:rPr>
              <a:t>  - Overlap resolved by impedance (clot Z ~2700 ohm vs wall ~1900 ohm)</a:t>
            </a:r>
          </a:p>
          <a:p>
            <a:pPr>
              <a:spcAft>
                <a:spcPts val="200"/>
              </a:spcAft>
            </a:pPr>
            <a:endParaRPr sz="1200">
              <a:solidFill>
                <a:srgbClr val="585858"/>
              </a:solidFill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5858"/>
                </a:solidFill>
              </a:rPr>
              <a:t>  - Conservative: Pressure as tiebreaker when impedance is ambiguous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5858"/>
                </a:solidFill>
              </a:rPr>
              <a:t>  - Full GRU: Pressure features (min, std, frac&lt;500, range) in 2s window added to feature vector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5858"/>
                </a:solidFill>
              </a:rPr>
              <a:t>  - Clot F1 is primary improvement target (largest current gap: 0.35 -&gt; 0.65)</a:t>
            </a:r>
          </a:p>
          <a:p>
            <a:pPr>
              <a:spcAft>
                <a:spcPts val="200"/>
              </a:spcAft>
            </a:pPr>
            <a:endParaRPr sz="1200">
              <a:solidFill>
                <a:srgbClr val="585858"/>
              </a:solidFill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7E22"/>
                </a:solidFill>
              </a:rPr>
              <a:t>Risk: Promedica case (60% clot P &lt; 500) shows pressure alone is insufficient.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5858"/>
                </a:solidFill>
              </a:rPr>
              <a:t>       Combined with impedance, this overlap is fully resolved.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 dirty="0">
                <a:solidFill>
                  <a:srgbClr val="2E5E8E"/>
                </a:solidFill>
              </a:rPr>
              <a:t>RECOMMENDATION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Integrate handle pressure as a feature in the GRU tissue classifier.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2D8B4E"/>
                </a:solidFill>
              </a:rPr>
              <a:t>Expected improvement: F1-macro 0.65 -&gt; 0.80 (+23% relative)</a:t>
            </a:r>
          </a:p>
          <a:p>
            <a:pPr>
              <a:spcAft>
                <a:spcPts val="400"/>
              </a:spcAft>
            </a:pPr>
            <a:endParaRPr sz="1600" b="1" dirty="0">
              <a:solidFill>
                <a:srgbClr val="2D8B4E"/>
              </a:solidFill>
            </a:endParaRPr>
          </a:p>
          <a:p>
            <a:pPr>
              <a:spcAft>
                <a:spcPts val="400"/>
              </a:spcAft>
            </a:pPr>
            <a:r>
              <a:rPr sz="2000" b="1" dirty="0">
                <a:solidFill>
                  <a:srgbClr val="2E5E8E"/>
                </a:solidFill>
              </a:rPr>
              <a:t>NEXT STEPS</a:t>
            </a: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00000"/>
                </a:solidFill>
              </a:rPr>
              <a:t>1.  Collect simultaneous impedance + pressure data (Gen3.0 with impedance enabled)</a:t>
            </a: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00000"/>
                </a:solidFill>
              </a:rPr>
              <a:t>2.  Engineer pressure features: </a:t>
            </a:r>
            <a:r>
              <a:rPr sz="1500" b="0" dirty="0" err="1">
                <a:solidFill>
                  <a:srgbClr val="000000"/>
                </a:solidFill>
              </a:rPr>
              <a:t>P_min</a:t>
            </a:r>
            <a:r>
              <a:rPr sz="1500" b="0" dirty="0">
                <a:solidFill>
                  <a:srgbClr val="000000"/>
                </a:solidFill>
              </a:rPr>
              <a:t>, </a:t>
            </a:r>
            <a:r>
              <a:rPr sz="1500" b="0" dirty="0" err="1">
                <a:solidFill>
                  <a:srgbClr val="000000"/>
                </a:solidFill>
              </a:rPr>
              <a:t>P_std</a:t>
            </a:r>
            <a:r>
              <a:rPr sz="1500" b="0" dirty="0">
                <a:solidFill>
                  <a:srgbClr val="000000"/>
                </a:solidFill>
              </a:rPr>
              <a:t>, </a:t>
            </a:r>
            <a:r>
              <a:rPr lang="en-US" sz="1500" dirty="0">
                <a:solidFill>
                  <a:srgbClr val="000000"/>
                </a:solidFill>
              </a:rPr>
              <a:t>frac_below_300 , </a:t>
            </a:r>
            <a:r>
              <a:rPr sz="1500" b="0" dirty="0">
                <a:solidFill>
                  <a:srgbClr val="000000"/>
                </a:solidFill>
              </a:rPr>
              <a:t>frac_below_500, </a:t>
            </a:r>
            <a:r>
              <a:rPr sz="1500" b="0" dirty="0" err="1">
                <a:solidFill>
                  <a:srgbClr val="000000"/>
                </a:solidFill>
              </a:rPr>
              <a:t>P_range</a:t>
            </a:r>
            <a:r>
              <a:rPr sz="1500" b="0" dirty="0">
                <a:solidFill>
                  <a:srgbClr val="000000"/>
                </a:solidFill>
              </a:rPr>
              <a:t> over 2s window</a:t>
            </a: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00000"/>
                </a:solidFill>
              </a:rPr>
              <a:t>3.  Retrain GRU with pressure features on existing 85-study training set</a:t>
            </a: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00000"/>
                </a:solidFill>
              </a:rPr>
              <a:t>4.  Validate on held-out test set (current: 15 test studies)</a:t>
            </a: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00000"/>
                </a:solidFill>
              </a:rPr>
              <a:t>5.  If F1-macro &gt;= 0.75, proceed to verification &amp; deployment</a:t>
            </a:r>
          </a:p>
          <a:p>
            <a:pPr>
              <a:spcAft>
                <a:spcPts val="400"/>
              </a:spcAft>
            </a:pPr>
            <a:endParaRPr sz="150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762</Words>
  <Application>Microsoft Office PowerPoint</Application>
  <PresentationFormat>Custom</PresentationFormat>
  <Paragraphs>145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Ronald Kurnik</cp:lastModifiedBy>
  <cp:revision>1</cp:revision>
  <dcterms:created xsi:type="dcterms:W3CDTF">2013-01-27T09:14:16Z</dcterms:created>
  <dcterms:modified xsi:type="dcterms:W3CDTF">2026-06-03T22:51:25Z</dcterms:modified>
  <cp:category/>
</cp:coreProperties>
</file>